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Goals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Mbappé (FRA)</c:v>
                  </c:pt>
                  <c:pt idx="1">
                    <c:v>Messi (ARG)</c:v>
                  </c:pt>
                  <c:pt idx="2">
                    <c:v>Haaland (NOR)</c:v>
                  </c:pt>
                  <c:pt idx="3">
                    <c:v>Bellingham (ENG)</c:v>
                  </c:pt>
                  <c:pt idx="4">
                    <c:v>Kane (ENG)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Goals</c:v>
                </c:pt>
              </c:strCache>
            </c:strRef>
          </c:tx>
          <c:spPr>
            <a:solidFill>
              <a:srgbClr val="0E3B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First Stage</c:v>
                  </c:pt>
                  <c:pt idx="1">
                    <c:v>Round of 32</c:v>
                  </c:pt>
                  <c:pt idx="2">
                    <c:v>Round of 16</c:v>
                  </c:pt>
                  <c:pt idx="3">
                    <c:v>Quarter-final</c:v>
                  </c:pt>
                  <c:pt idx="4">
                    <c:v>Bronze Final</c:v>
                  </c:pt>
                  <c:pt idx="5">
                    <c:v>Semi-final</c:v>
                  </c:pt>
                  <c:pt idx="6">
                    <c:v>Final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215</c:v>
                </c:pt>
                <c:pt idx="1">
                  <c:v>42</c:v>
                </c:pt>
                <c:pt idx="2">
                  <c:v>23</c:v>
                </c:pt>
                <c:pt idx="3">
                  <c:v>12</c:v>
                </c:pt>
                <c:pt idx="4">
                  <c:v>10</c:v>
                </c:pt>
                <c:pt idx="5">
                  <c:v>5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Wins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Argentina</c:v>
                  </c:pt>
                  <c:pt idx="1">
                    <c:v>Spain</c:v>
                  </c:pt>
                  <c:pt idx="2">
                    <c:v>France</c:v>
                  </c:pt>
                  <c:pt idx="3">
                    <c:v>England</c:v>
                  </c:pt>
                  <c:pt idx="4">
                    <c:v>Mexico</c:v>
                  </c:pt>
                  <c:pt idx="5">
                    <c:v>Norway</c:v>
                  </c:pt>
                  <c:pt idx="6">
                    <c:v>Switzerland</c:v>
                  </c:pt>
                  <c:pt idx="7">
                    <c:v>Morocco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1143000"/>
          </a:xfrm>
          <a:prstGeom prst="rect">
            <a:avLst/>
          </a:prstGeom>
          <a:solidFill>
            <a:srgbClr val="0B32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286000"/>
            <a:ext cx="12188952" cy="1143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29000"/>
            <a:ext cx="12188952" cy="1143000"/>
          </a:xfrm>
          <a:prstGeom prst="rect">
            <a:avLst/>
          </a:prstGeom>
          <a:solidFill>
            <a:srgbClr val="0B322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572000"/>
            <a:ext cx="12188952" cy="1143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715000"/>
            <a:ext cx="12188952" cy="1143000"/>
          </a:xfrm>
          <a:prstGeom prst="rect">
            <a:avLst/>
          </a:prstGeom>
          <a:solidFill>
            <a:srgbClr val="0B3226"/>
          </a:solidFill>
          <a:ln/>
        </p:spPr>
      </p:sp>
      <p:sp>
        <p:nvSpPr>
          <p:cNvPr id="8" name="Shape 6"/>
          <p:cNvSpPr/>
          <p:nvPr/>
        </p:nvSpPr>
        <p:spPr>
          <a:xfrm>
            <a:off x="9464040" y="822960"/>
            <a:ext cx="2103120" cy="2103120"/>
          </a:xfrm>
          <a:prstGeom prst="ellipse">
            <a:avLst/>
          </a:prstGeom>
          <a:solidFill>
            <a:srgbClr val="12483A"/>
          </a:solidFill>
          <a:ln w="254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29800" y="1188720"/>
            <a:ext cx="1371600" cy="1371600"/>
          </a:xfrm>
          <a:prstGeom prst="ellipse">
            <a:avLst/>
          </a:prstGeom>
          <a:solidFill>
            <a:srgbClr val="0E3B2E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9800" y="1188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FIFA WORLD CUP 2026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Project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 •  SQL database  •  Statistical analysis  •  Power BI dashboard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4343400"/>
            <a:ext cx="2926080" cy="0"/>
          </a:xfrm>
          <a:prstGeom prst="line">
            <a:avLst/>
          </a:prstGeom>
          <a:noFill/>
          <a:ln w="1905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26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Teams   •   104 Matches   •   16 Stadiums   •   308 Goals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8F0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analytics pipeline that turns raw FIFA World Cup 2026 data into decision-ready insight — from data collection through a relational database to an interactive Power BI dashboard.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6B7B7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06040"/>
            <a:ext cx="640080" cy="64008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2057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Jupyter notebooks gather teams, stadiums, matches, players and physical/goal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6B7B72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606040"/>
            <a:ext cx="640080" cy="64008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3383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Store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20440" y="3794760"/>
            <a:ext cx="2057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is structured and loaded into a relational SQL database with proper tables and keys.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6B7B7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2606040"/>
            <a:ext cx="640080" cy="64008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3383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63640" y="3794760"/>
            <a:ext cx="2057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Ten+ SQL queries and Excel workbooks surface scoring trends, form, and team performance.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78240" y="23317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6B7B72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06840" y="2606040"/>
            <a:ext cx="640080" cy="64008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23" name="Text 21"/>
          <p:cNvSpPr/>
          <p:nvPr/>
        </p:nvSpPr>
        <p:spPr>
          <a:xfrm>
            <a:off x="90068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6840" y="3383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006840" y="3794760"/>
            <a:ext cx="2057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(with custom Deneb visuals) delivers an interactive, shareable story.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Analytics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8F0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Dashboard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468880"/>
            <a:ext cx="0" cy="384048"/>
          </a:xfrm>
          <a:prstGeom prst="line">
            <a:avLst/>
          </a:prstGeom>
          <a:noFill/>
          <a:ln w="19050">
            <a:solidFill>
              <a:srgbClr val="C9D6C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371600" y="1965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196596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notebooks collect Teams, Stadiums, Matches, Match Statistics, Players, Physical Stats and Goals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457200" cy="45720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310128"/>
            <a:ext cx="0" cy="384048"/>
          </a:xfrm>
          <a:prstGeom prst="line">
            <a:avLst/>
          </a:prstGeom>
          <a:noFill/>
          <a:ln w="19050">
            <a:solidFill>
              <a:srgbClr val="C9D6C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371600" y="28072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280720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table creation scripts, bulk inserts, and validation queries build a clean relational store.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94176"/>
            <a:ext cx="457200" cy="45720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4151376"/>
            <a:ext cx="0" cy="384048"/>
          </a:xfrm>
          <a:prstGeom prst="line">
            <a:avLst/>
          </a:prstGeom>
          <a:noFill/>
          <a:ln w="19050">
            <a:solidFill>
              <a:srgbClr val="C9D6C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371600" y="364845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06240" y="3648456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reports: top scorers, win rates, stage-by-stage goals, team performance summaries.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457200" cy="45720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35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" y="4992624"/>
            <a:ext cx="0" cy="384048"/>
          </a:xfrm>
          <a:prstGeom prst="line">
            <a:avLst/>
          </a:prstGeom>
          <a:noFill/>
          <a:ln w="19050">
            <a:solidFill>
              <a:srgbClr val="C9D6C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371600" y="448970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06240" y="4489704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CSV/Excel extracts (goals by stage, match stats, player analysis) for quick reporting.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376672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376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3309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06240" y="533095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.pbix report with a custom Deneb visual for advanced, code-driven charts.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Analytics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8F0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Datasets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linked tables cover every level of the tournament, from stadiums down to individual player events.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337560" cy="1170432"/>
          </a:xfrm>
          <a:prstGeom prst="roundRect">
            <a:avLst>
              <a:gd name="adj" fmla="val 5469"/>
            </a:avLst>
          </a:prstGeom>
          <a:solidFill>
            <a:srgbClr val="F5F7F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2677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3B2E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2311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249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teams, confederation &amp; group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2103120"/>
            <a:ext cx="3337560" cy="1170432"/>
          </a:xfrm>
          <a:prstGeom prst="roundRect">
            <a:avLst>
              <a:gd name="adj" fmla="val 5469"/>
            </a:avLst>
          </a:prstGeom>
          <a:solidFill>
            <a:srgbClr val="F5F7F5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2677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2311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7249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host venues &amp; capacity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80960" y="2103120"/>
            <a:ext cx="3337560" cy="1170432"/>
          </a:xfrm>
          <a:prstGeom prst="roundRect">
            <a:avLst>
              <a:gd name="adj" fmla="val 5469"/>
            </a:avLst>
          </a:prstGeom>
          <a:solidFill>
            <a:srgbClr val="F5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22677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311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0" y="27249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fixtures with results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3337560" cy="1170432"/>
          </a:xfrm>
          <a:prstGeom prst="roundRect">
            <a:avLst>
              <a:gd name="adj" fmla="val 5469"/>
            </a:avLst>
          </a:prstGeom>
          <a:solidFill>
            <a:srgbClr val="F5F7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62102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3B2E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35844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Statistics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07822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Shots, possession, cards, corners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0" y="3456432"/>
            <a:ext cx="3337560" cy="1170432"/>
          </a:xfrm>
          <a:prstGeom prst="roundRect">
            <a:avLst>
              <a:gd name="adj" fmla="val 5469"/>
            </a:avLst>
          </a:prstGeom>
          <a:solidFill>
            <a:srgbClr val="F5F7F5"/>
          </a:solidFill>
          <a:ln/>
        </p:spPr>
      </p:sp>
      <p:sp>
        <p:nvSpPr>
          <p:cNvPr id="23" name="Shape 21"/>
          <p:cNvSpPr/>
          <p:nvPr/>
        </p:nvSpPr>
        <p:spPr>
          <a:xfrm>
            <a:off x="4297680" y="362102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3B2E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5844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407822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1,249 squad members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80960" y="3456432"/>
            <a:ext cx="3337560" cy="1170432"/>
          </a:xfrm>
          <a:prstGeom prst="roundRect">
            <a:avLst>
              <a:gd name="adj" fmla="val 5469"/>
            </a:avLst>
          </a:prstGeom>
          <a:solidFill>
            <a:srgbClr val="F5F7F5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3840" y="362102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3B2E"/>
          </a:solidFill>
          <a:ln/>
        </p:spPr>
      </p:sp>
      <p:sp>
        <p:nvSpPr>
          <p:cNvPr id="28" name="Text 26"/>
          <p:cNvSpPr/>
          <p:nvPr/>
        </p:nvSpPr>
        <p:spPr>
          <a:xfrm>
            <a:off x="8366760" y="35844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Physical Stats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63840" y="407822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sprints, top speed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809744"/>
            <a:ext cx="3337560" cy="1170432"/>
          </a:xfrm>
          <a:prstGeom prst="roundRect">
            <a:avLst>
              <a:gd name="adj" fmla="val 5469"/>
            </a:avLst>
          </a:prstGeom>
          <a:solidFill>
            <a:srgbClr val="F5F7F5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497433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3B2E"/>
          </a:solidFill>
          <a:ln/>
        </p:spPr>
      </p:sp>
      <p:sp>
        <p:nvSpPr>
          <p:cNvPr id="32" name="Text 30"/>
          <p:cNvSpPr/>
          <p:nvPr/>
        </p:nvSpPr>
        <p:spPr>
          <a:xfrm>
            <a:off x="123444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543153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goal events by minute &amp; type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114800" y="4809744"/>
            <a:ext cx="3337560" cy="1170432"/>
          </a:xfrm>
          <a:prstGeom prst="roundRect">
            <a:avLst>
              <a:gd name="adj" fmla="val 5469"/>
            </a:avLst>
          </a:prstGeom>
          <a:solidFill>
            <a:srgbClr val="F5F7F5"/>
          </a:solidFill>
          <a:ln/>
        </p:spPr>
      </p:sp>
      <p:sp>
        <p:nvSpPr>
          <p:cNvPr id="35" name="Shape 33"/>
          <p:cNvSpPr/>
          <p:nvPr/>
        </p:nvSpPr>
        <p:spPr>
          <a:xfrm>
            <a:off x="4297680" y="497433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3B2E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Player Stats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97680" y="543153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attacking/defensive metrics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680960" y="4809744"/>
            <a:ext cx="3337560" cy="1170432"/>
          </a:xfrm>
          <a:prstGeom prst="roundRect">
            <a:avLst>
              <a:gd name="adj" fmla="val 5469"/>
            </a:avLst>
          </a:prstGeom>
          <a:solidFill>
            <a:srgbClr val="F5F7F5"/>
          </a:solidFill>
          <a:ln/>
        </p:spPr>
      </p:sp>
      <p:sp>
        <p:nvSpPr>
          <p:cNvPr id="39" name="Shape 37"/>
          <p:cNvSpPr/>
          <p:nvPr/>
        </p:nvSpPr>
        <p:spPr>
          <a:xfrm>
            <a:off x="7863840" y="497433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3B2E"/>
          </a:solidFill>
          <a:ln/>
        </p:spPr>
      </p:sp>
      <p:sp>
        <p:nvSpPr>
          <p:cNvPr id="40" name="Text 38"/>
          <p:cNvSpPr/>
          <p:nvPr/>
        </p:nvSpPr>
        <p:spPr>
          <a:xfrm>
            <a:off x="83667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ID Mapping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863840" y="543153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player identity keys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Analytics Project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A52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Tournament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2483A"/>
          </a:solidFill>
          <a:ln w="12700">
            <a:solidFill>
              <a:srgbClr val="1E5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2483A"/>
          </a:solidFill>
          <a:ln w="12700">
            <a:solidFill>
              <a:srgbClr val="1E5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1945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297680" y="3246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Played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09560" y="196596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2483A"/>
          </a:solidFill>
          <a:ln w="12700">
            <a:solidFill>
              <a:srgbClr val="1E5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21945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909560" y="3246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Stadiums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3891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2483A"/>
          </a:solidFill>
          <a:ln w="12700">
            <a:solidFill>
              <a:srgbClr val="1E5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617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308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85800" y="5669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Scored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43891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2483A"/>
          </a:solidFill>
          <a:ln w="12700">
            <a:solidFill>
              <a:srgbClr val="1E5A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4617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2.96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297680" y="5669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Goals / Match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09560" y="43891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2483A"/>
          </a:solidFill>
          <a:ln w="12700">
            <a:solidFill>
              <a:srgbClr val="1E5A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4617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1,249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909560" y="5669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Tracked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Analytics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8F0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Boot Race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individual goal scorers of the tournament, from the Player Analysis workbook.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945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219456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5F7F5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2423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7818120" y="3337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for the tournament's top scorer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01000" y="4069080"/>
            <a:ext cx="3200400" cy="0"/>
          </a:xfrm>
          <a:prstGeom prst="line">
            <a:avLst/>
          </a:prstGeom>
          <a:noFill/>
          <a:ln w="12700">
            <a:solidFill>
              <a:srgbClr val="D5DE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43434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excel/Player_Analysis.csv — aggregated from the Goals fact table joined to Players and Teams.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Analytics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8F0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Goals Came From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scored by tournament stage — scoring is heavily front-loaded in the group stage, then tightens as the field narrows.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108813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Analytics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8F0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Successful Teams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total match wins across the tournament.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108813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Analytics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8F0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the Database Can Answer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standing SQL reports turn the raw tables into repeatable answers.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2677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267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1031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scoring teams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2103120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/>
        </p:spPr>
      </p:sp>
      <p:sp>
        <p:nvSpPr>
          <p:cNvPr id="11" name="Shape 9"/>
          <p:cNvSpPr/>
          <p:nvPr/>
        </p:nvSpPr>
        <p:spPr>
          <a:xfrm>
            <a:off x="6245352" y="22677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6245352" y="2267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21031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played by team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89864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by tournament stage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80760" y="2898648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5352" y="30632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20" name="Text 18"/>
          <p:cNvSpPr/>
          <p:nvPr/>
        </p:nvSpPr>
        <p:spPr>
          <a:xfrm>
            <a:off x="6245352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89864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goals per match, by stage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694176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858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36941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successful teams by wins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080760" y="3694176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/>
        </p:spPr>
      </p:sp>
      <p:sp>
        <p:nvSpPr>
          <p:cNvPr id="27" name="Shape 25"/>
          <p:cNvSpPr/>
          <p:nvPr/>
        </p:nvSpPr>
        <p:spPr>
          <a:xfrm>
            <a:off x="6245352" y="3858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28" name="Text 26"/>
          <p:cNvSpPr/>
          <p:nvPr/>
        </p:nvSpPr>
        <p:spPr>
          <a:xfrm>
            <a:off x="6245352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6941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conceded by team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4489704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/>
        </p:spPr>
      </p:sp>
      <p:sp>
        <p:nvSpPr>
          <p:cNvPr id="31" name="Shape 29"/>
          <p:cNvSpPr/>
          <p:nvPr/>
        </p:nvSpPr>
        <p:spPr>
          <a:xfrm>
            <a:off x="713232" y="46542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4654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34440" y="448970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individual goal scorers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080760" y="4489704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5352" y="46542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36" name="Text 34"/>
          <p:cNvSpPr/>
          <p:nvPr/>
        </p:nvSpPr>
        <p:spPr>
          <a:xfrm>
            <a:off x="6245352" y="4654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448970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win rate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48640" y="5285232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/>
        </p:spPr>
      </p:sp>
      <p:sp>
        <p:nvSpPr>
          <p:cNvPr id="39" name="Shape 37"/>
          <p:cNvSpPr/>
          <p:nvPr/>
        </p:nvSpPr>
        <p:spPr>
          <a:xfrm>
            <a:off x="713232" y="5449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" y="5449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34440" y="52852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scored vs. conceded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080760" y="5285232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5F7F5"/>
          </a:solidFill>
          <a:ln/>
        </p:spPr>
      </p:sp>
      <p:sp>
        <p:nvSpPr>
          <p:cNvPr id="43" name="Shape 41"/>
          <p:cNvSpPr/>
          <p:nvPr/>
        </p:nvSpPr>
        <p:spPr>
          <a:xfrm>
            <a:off x="6245352" y="5449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44" name="Text 42"/>
          <p:cNvSpPr/>
          <p:nvPr/>
        </p:nvSpPr>
        <p:spPr>
          <a:xfrm>
            <a:off x="6245352" y="5449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66560" y="52852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match performance summary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Analytics Project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A52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BI Dashboard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SQL and Excel analysis is packaged into a single interactive .pbix report, extended with the Deneb custom visual for bespoke, code-driven charts beyond Power BI's native library.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219456" cy="21945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036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player performance explorer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219456" cy="21945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4728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Tournament-stage scoring trends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41648"/>
            <a:ext cx="219456" cy="21945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14216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team, group, and stage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08576"/>
            <a:ext cx="219456" cy="21945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581144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Deneb (Vega-Lite) visuals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52360" y="155448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1A2E4D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178308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4365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6920" y="178308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4365A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096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4692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4692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80960" y="2880360"/>
            <a:ext cx="3794760" cy="1463040"/>
          </a:xfrm>
          <a:prstGeom prst="roundRect">
            <a:avLst>
              <a:gd name="adj" fmla="val 3750"/>
            </a:avLst>
          </a:prstGeom>
          <a:solidFill>
            <a:srgbClr val="24365A"/>
          </a:solidFill>
          <a:ln/>
        </p:spPr>
      </p:sp>
      <p:sp>
        <p:nvSpPr>
          <p:cNvPr id="22" name="Shape 20"/>
          <p:cNvSpPr/>
          <p:nvPr/>
        </p:nvSpPr>
        <p:spPr>
          <a:xfrm>
            <a:off x="7863840" y="3794760"/>
            <a:ext cx="320040" cy="36576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3" name="Shape 21"/>
          <p:cNvSpPr/>
          <p:nvPr/>
        </p:nvSpPr>
        <p:spPr>
          <a:xfrm>
            <a:off x="8430768" y="3337560"/>
            <a:ext cx="320040" cy="82296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8997696" y="3611880"/>
            <a:ext cx="320040" cy="5486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5" name="Shape 23"/>
          <p:cNvSpPr/>
          <p:nvPr/>
        </p:nvSpPr>
        <p:spPr>
          <a:xfrm>
            <a:off x="9564624" y="3154680"/>
            <a:ext cx="320040" cy="10058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31552" y="3474720"/>
            <a:ext cx="320040" cy="6858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98480" y="3886200"/>
            <a:ext cx="320040" cy="2743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Shape 26"/>
          <p:cNvSpPr/>
          <p:nvPr/>
        </p:nvSpPr>
        <p:spPr>
          <a:xfrm>
            <a:off x="7680960" y="4480560"/>
            <a:ext cx="3794760" cy="1463040"/>
          </a:xfrm>
          <a:prstGeom prst="roundRect">
            <a:avLst>
              <a:gd name="adj" fmla="val 3750"/>
            </a:avLst>
          </a:prstGeom>
          <a:solidFill>
            <a:srgbClr val="24365A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0" y="5577840"/>
            <a:ext cx="3383280" cy="-36576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5212080"/>
            <a:ext cx="3383280" cy="-502920"/>
          </a:xfrm>
          <a:prstGeom prst="line">
            <a:avLst/>
          </a:prstGeom>
          <a:noFill/>
          <a:ln w="25400">
            <a:solidFill>
              <a:srgbClr val="8FA6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Analytics Project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8F0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Behind the Project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5F7F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017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Jupyter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notebooks (8 stages)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0" y="214884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5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3017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4340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design, loading &amp; 10+ analysis queries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214884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5F7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9560" y="2377440"/>
            <a:ext cx="502920" cy="50292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3017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0956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extracts for lightweight reporting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5F7F5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9834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5349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&amp; data model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0" y="411480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5F7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343400" y="4343400"/>
            <a:ext cx="502920" cy="50292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49834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43400" y="5349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Vega-Lite visuals inside Power BI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80960" y="411480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5F7F5"/>
          </a:solidFill>
          <a:ln/>
        </p:spPr>
      </p:sp>
      <p:sp>
        <p:nvSpPr>
          <p:cNvPr id="26" name="Shape 24"/>
          <p:cNvSpPr/>
          <p:nvPr/>
        </p:nvSpPr>
        <p:spPr>
          <a:xfrm>
            <a:off x="7909560" y="4343400"/>
            <a:ext cx="502920" cy="50292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49834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Relational Data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09560" y="5349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linked tables, 1,249 players, 104 matches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Analytics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1143000"/>
          </a:xfrm>
          <a:prstGeom prst="rect">
            <a:avLst/>
          </a:prstGeom>
          <a:solidFill>
            <a:srgbClr val="0B32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286000"/>
            <a:ext cx="12188952" cy="1143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29000"/>
            <a:ext cx="12188952" cy="1143000"/>
          </a:xfrm>
          <a:prstGeom prst="rect">
            <a:avLst/>
          </a:prstGeom>
          <a:solidFill>
            <a:srgbClr val="0B322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572000"/>
            <a:ext cx="12188952" cy="1143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715000"/>
            <a:ext cx="12188952" cy="1143000"/>
          </a:xfrm>
          <a:prstGeom prst="rect">
            <a:avLst/>
          </a:prstGeom>
          <a:solidFill>
            <a:srgbClr val="0B3226"/>
          </a:solidFill>
          <a:ln/>
        </p:spPr>
      </p:sp>
      <p:sp>
        <p:nvSpPr>
          <p:cNvPr id="8" name="Shape 6"/>
          <p:cNvSpPr/>
          <p:nvPr/>
        </p:nvSpPr>
        <p:spPr>
          <a:xfrm>
            <a:off x="5175504" y="1188720"/>
            <a:ext cx="1828800" cy="1828800"/>
          </a:xfrm>
          <a:prstGeom prst="ellipse">
            <a:avLst/>
          </a:prstGeom>
          <a:solidFill>
            <a:srgbClr val="12483A"/>
          </a:solidFill>
          <a:ln w="254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75504" y="1188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⚽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the data, the pipeline, or the dashboard?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— Data Analytics Project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2026-09-13T16:41:32Z</dcterms:created>
  <dcterms:modified xsi:type="dcterms:W3CDTF">2026-09-13T16:41:32Z</dcterms:modified>
</cp:coreProperties>
</file>